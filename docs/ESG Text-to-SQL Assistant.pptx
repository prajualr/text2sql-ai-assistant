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9" r:id="rId6"/>
    <p:sldId id="271" r:id="rId7"/>
    <p:sldId id="267" r:id="rId8"/>
    <p:sldId id="260" r:id="rId9"/>
    <p:sldId id="273" r:id="rId10"/>
    <p:sldId id="275" r:id="rId11"/>
    <p:sldId id="266" r:id="rId12"/>
    <p:sldId id="277" r:id="rId13"/>
    <p:sldId id="276" r:id="rId14"/>
    <p:sldId id="270" r:id="rId15"/>
    <p:sldId id="265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55" d="100"/>
          <a:sy n="55" d="100"/>
        </p:scale>
        <p:origin x="1314" y="2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2612826"/>
            <a:ext cx="11601450" cy="754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sz="5400" b="1" i="0" u="none">
                <a:solidFill>
                  <a:srgbClr val="F8FAFC"/>
                </a:solidFill>
                <a:latin typeface="Urbanist"/>
              </a:rPr>
              <a:t>ESG Text-to-SQL </a:t>
            </a:r>
            <a:r>
              <a:rPr sz="5400" b="1" i="0" u="none">
                <a:solidFill>
                  <a:srgbClr val="10B981"/>
                </a:solidFill>
                <a:latin typeface="Urbanist"/>
              </a:rPr>
              <a:t>AI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9750" y="3605212"/>
            <a:ext cx="85725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dirty="0">
                <a:solidFill>
                  <a:srgbClr val="CBD5E1"/>
                </a:solidFill>
                <a:latin typeface="Urbanist"/>
              </a:rPr>
              <a:t>AI assistant for ESG data, instantly turning natural language queries into insights with </a:t>
            </a:r>
            <a:r>
              <a:rPr dirty="0">
                <a:solidFill>
                  <a:srgbClr val="CBD5E1"/>
                </a:solidFill>
                <a:latin typeface="Urbanist"/>
              </a:rPr>
              <a:t>advanced Natural Language Processing and LLM capabilities.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9625" y="1988790"/>
            <a:ext cx="50006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Urbanist"/>
              </a:rPr>
              <a:t>Lack of SQL Knowledge:</a:t>
            </a:r>
            <a:r>
              <a:rPr sz="1500" b="0" i="0" u="none">
                <a:solidFill>
                  <a:srgbClr val="CBD5E1"/>
                </a:solidFill>
                <a:latin typeface="Urbanist"/>
              </a:rPr>
              <a:t> ESG stakeholders, auditors, and management need insights instantly but cannot write complex queries.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625" y="3093690"/>
            <a:ext cx="50006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Urbanist"/>
              </a:rPr>
              <a:t>Technical Dependency:</a:t>
            </a:r>
            <a:r>
              <a:rPr sz="1500" b="0" i="0" u="none">
                <a:solidFill>
                  <a:srgbClr val="CBD5E1"/>
                </a:solidFill>
                <a:latin typeface="Urbanist"/>
              </a:rPr>
              <a:t> Retrieving basic ESG metrics requires data analysts, resulting in reporting delays.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625" y="3893790"/>
            <a:ext cx="50006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CBD5E1"/>
                </a:solidFill>
                <a:latin typeface="Urbanist"/>
              </a:rPr>
              <a:t>Siloed Information: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Analyzing diverse Environmental, Social, and Governance metrics manually across disconnected tools is highly inefficient.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4998690"/>
            <a:ext cx="50006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Urbanist"/>
              </a:rPr>
              <a:t>Rigid Dashboards:</a:t>
            </a:r>
            <a:r>
              <a:rPr sz="1500" b="0" i="0" u="none">
                <a:solidFill>
                  <a:srgbClr val="CBD5E1"/>
                </a:solidFill>
                <a:latin typeface="Urbanist"/>
              </a:rPr>
              <a:t> Traditional BI tools fail to answer spontaneous, ad-hoc sustainability questions.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1912590"/>
            <a:ext cx="571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250" b="0" i="0" u="none">
                <a:solidFill>
                  <a:srgbClr val="10B981"/>
                </a:solidFill>
                <a:latin typeface="Urbanist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3017490"/>
            <a:ext cx="571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250" b="0" i="0" u="none">
                <a:solidFill>
                  <a:srgbClr val="10B981"/>
                </a:solidFill>
                <a:latin typeface="Urbanist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3817590"/>
            <a:ext cx="571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250" b="0" i="0" u="none">
                <a:solidFill>
                  <a:srgbClr val="10B981"/>
                </a:solidFill>
                <a:latin typeface="Urbanist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922490"/>
            <a:ext cx="571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250" b="0" i="0" u="none">
                <a:solidFill>
                  <a:srgbClr val="10B981"/>
                </a:solidFill>
                <a:latin typeface="Urbanist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F8FAFC"/>
                </a:solidFill>
                <a:latin typeface="Urbanist"/>
              </a:rPr>
              <a:t>The </a:t>
            </a:r>
            <a:r>
              <a:rPr sz="3600" b="1" i="0" u="none">
                <a:solidFill>
                  <a:srgbClr val="10B981"/>
                </a:solidFill>
                <a:latin typeface="Urbanist"/>
              </a:rPr>
              <a:t>Data Bottleneck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41177"/>
            <a:ext cx="3429000" cy="3705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0" y="2041177"/>
            <a:ext cx="3429000" cy="37052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0" y="2041177"/>
            <a:ext cx="3429000" cy="37052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57375" y="2431702"/>
            <a:ext cx="857250" cy="857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0855" y="3527077"/>
            <a:ext cx="2310288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F8FAFC"/>
                </a:solidFill>
                <a:latin typeface="Urbanist"/>
              </a:rPr>
              <a:t>Natural Language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993802"/>
            <a:ext cx="28384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Urbanist"/>
              </a:rPr>
              <a:t>Users ask ESG questions in plain English (e.g., "Show Scope 1 emissions in Singapore for FY25").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7375" y="2431702"/>
            <a:ext cx="857250" cy="857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65871" y="3527077"/>
            <a:ext cx="2060257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F8FAFC"/>
                </a:solidFill>
                <a:latin typeface="Urbanist"/>
              </a:rPr>
              <a:t>Automated 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6775" y="3993802"/>
            <a:ext cx="283845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Urbanist"/>
              </a:rPr>
              <a:t>The GenAI engine understands metadata to automatically convert conversational questions into optimized SQL queries.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77375" y="2431702"/>
            <a:ext cx="857250" cy="857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935878" y="3527077"/>
            <a:ext cx="1940242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F8FAFC"/>
                </a:solidFill>
                <a:latin typeface="Urbanist"/>
              </a:rPr>
              <a:t>Instant Insights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6775" y="3993802"/>
            <a:ext cx="283845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Urbanist"/>
              </a:rPr>
              <a:t>Retrieves data and automatically recommends the best visualization, providing actionable summaries.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0250" y="2631727"/>
            <a:ext cx="571500" cy="4572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95975" y="2631727"/>
            <a:ext cx="400050" cy="4572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48825" y="2631727"/>
            <a:ext cx="514350" cy="457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 dirty="0">
                <a:solidFill>
                  <a:srgbClr val="F8FAFC"/>
                </a:solidFill>
                <a:latin typeface="Urbanist"/>
              </a:rPr>
              <a:t>AI-Powered </a:t>
            </a:r>
            <a:r>
              <a:rPr sz="3600" b="1" i="0" u="none" dirty="0">
                <a:solidFill>
                  <a:srgbClr val="38BDF8"/>
                </a:solidFill>
                <a:latin typeface="Urbanist"/>
              </a:rPr>
              <a:t>Solution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874740"/>
            <a:ext cx="11049000" cy="38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7968" y="4179540"/>
            <a:ext cx="2668302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F8FAFC"/>
                </a:solidFill>
                <a:latin typeface="Urbanist"/>
              </a:rPr>
              <a:t>Intent Parsing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579590"/>
            <a:ext cx="254124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CBD5E1"/>
                </a:solidFill>
                <a:latin typeface="Urbanist"/>
              </a:rPr>
              <a:t>AI identifies the ESG Metric, Business Entity, Time Period, and Geographies requested.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43888" y="2333773"/>
            <a:ext cx="2668302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F8FAFC"/>
                </a:solidFill>
                <a:latin typeface="Urbanist"/>
              </a:rPr>
              <a:t>RAG &amp; Metadata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07419" y="2733823"/>
            <a:ext cx="254124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CBD5E1"/>
                </a:solidFill>
                <a:latin typeface="Urbanist"/>
              </a:rPr>
              <a:t>Injects context using Vector DB containing ESG glossary, KPI rules, and data dictionary.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9808" y="4179540"/>
            <a:ext cx="2668302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F8FAFC"/>
                </a:solidFill>
                <a:latin typeface="Urbanist"/>
              </a:rPr>
              <a:t>SQL Generation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3339" y="4579590"/>
            <a:ext cx="2541240" cy="2233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 dirty="0">
                <a:solidFill>
                  <a:srgbClr val="CBD5E1"/>
                </a:solidFill>
                <a:latin typeface="Urbanist"/>
              </a:rPr>
              <a:t>LLM formulates optimized SQL tailored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5728" y="2333773"/>
            <a:ext cx="2668302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 dirty="0">
                <a:solidFill>
                  <a:srgbClr val="F8FAFC"/>
                </a:solidFill>
                <a:latin typeface="Urbanist"/>
              </a:rPr>
              <a:t>Validation &amp; Viz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79259" y="2733823"/>
            <a:ext cx="254124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CBD5E1"/>
                </a:solidFill>
                <a:latin typeface="Urbanist"/>
              </a:rPr>
              <a:t>Secures query, executes retrieval, and generates dynamic charts &amp; conversational answers.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27820" y="377949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63740" y="377949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399659" y="377949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235579" y="377949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 dirty="0">
                <a:solidFill>
                  <a:srgbClr val="F8FAFC"/>
                </a:solidFill>
                <a:latin typeface="Urbanist"/>
              </a:rPr>
              <a:t>System </a:t>
            </a:r>
            <a:r>
              <a:rPr sz="3600" b="1" i="0" u="none" dirty="0">
                <a:solidFill>
                  <a:srgbClr val="10B981"/>
                </a:solidFill>
                <a:latin typeface="Urbanist"/>
              </a:rPr>
              <a:t>Architecture</a:t>
            </a:r>
            <a:r>
              <a:rPr sz="3600" b="1" i="0" u="none" dirty="0">
                <a:solidFill>
                  <a:srgbClr val="F8FAFC"/>
                </a:solidFill>
                <a:latin typeface="Urbanist"/>
              </a:rPr>
              <a:t> Flow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7785" y="441359"/>
            <a:ext cx="10241280" cy="5514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>
              <a:lnSpc>
                <a:spcPts val="4320"/>
              </a:lnSpc>
              <a:defRPr sz="3600" b="1" i="0" u="none">
                <a:solidFill>
                  <a:srgbClr val="F8FAFC"/>
                </a:solidFill>
                <a:latin typeface="Urbanist"/>
              </a:defRPr>
            </a:lvl1pPr>
          </a:lstStyle>
          <a:p>
            <a:r>
              <a:rPr dirty="0"/>
              <a:t>Technical </a:t>
            </a:r>
            <a:r>
              <a:rPr dirty="0">
                <a:solidFill>
                  <a:srgbClr val="10B981"/>
                </a:solidFill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5" y="952581"/>
            <a:ext cx="10241280" cy="269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1150" dirty="0">
                <a:solidFill>
                  <a:srgbClr val="B4C1D2"/>
                </a:solidFill>
                <a:latin typeface="Aptos"/>
              </a:rPr>
              <a:t>A</a:t>
            </a:r>
            <a:r>
              <a:rPr sz="1150" b="0" dirty="0" err="1">
                <a:solidFill>
                  <a:srgbClr val="B4C1D2"/>
                </a:solidFill>
                <a:latin typeface="Aptos"/>
              </a:rPr>
              <a:t>rchitecture</a:t>
            </a:r>
            <a:r>
              <a:rPr lang="en-IN" sz="1150" dirty="0">
                <a:solidFill>
                  <a:srgbClr val="B4C1D2"/>
                </a:solidFill>
                <a:latin typeface="Aptos"/>
              </a:rPr>
              <a:t> </a:t>
            </a:r>
            <a:r>
              <a:rPr sz="1150" b="0" dirty="0">
                <a:solidFill>
                  <a:srgbClr val="B4C1D2"/>
                </a:solidFill>
                <a:latin typeface="Aptos"/>
              </a:rPr>
              <a:t>with the major components and their responsibilities.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4633" y="3081528"/>
            <a:ext cx="141732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57785" y="3209544"/>
            <a:ext cx="12710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38BDF8"/>
                </a:solidFill>
                <a:latin typeface="Aptos"/>
              </a:rPr>
              <a:t>Streamlit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5" y="3538728"/>
            <a:ext cx="12710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69" b="0">
                <a:solidFill>
                  <a:srgbClr val="B4C1D2"/>
                </a:solidFill>
                <a:latin typeface="Aptos"/>
              </a:rPr>
              <a:t>Question /
results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21993" y="3081528"/>
            <a:ext cx="150876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95145" y="3209544"/>
            <a:ext cx="13624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10B981"/>
                </a:solidFill>
                <a:latin typeface="Aptos"/>
              </a:rPr>
              <a:t>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95145" y="3538728"/>
            <a:ext cx="13624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69" b="0">
                <a:solidFill>
                  <a:srgbClr val="B4C1D2"/>
                </a:solidFill>
                <a:latin typeface="Aptos"/>
              </a:rPr>
              <a:t>Request
orchestration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50792" y="2121408"/>
            <a:ext cx="1874519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23944" y="2249424"/>
            <a:ext cx="17282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FBBF24"/>
                </a:solidFill>
                <a:latin typeface="Aptos"/>
              </a:rPr>
              <a:t>Grounding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23944" y="2578608"/>
            <a:ext cx="1728216" cy="3906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IN" sz="969" dirty="0">
                <a:solidFill>
                  <a:srgbClr val="B4C1D2"/>
                </a:solidFill>
                <a:latin typeface="Aptos"/>
              </a:rPr>
              <a:t>Vector embeddings and Knowledge</a:t>
            </a:r>
            <a:r>
              <a:rPr sz="969" b="0" dirty="0">
                <a:solidFill>
                  <a:srgbClr val="B4C1D2"/>
                </a:solidFill>
                <a:latin typeface="Aptos"/>
              </a:rPr>
              <a:t> graph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50792" y="3950208"/>
            <a:ext cx="1874519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23944" y="4078224"/>
            <a:ext cx="17282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A78BFA"/>
                </a:solidFill>
                <a:latin typeface="Aptos"/>
              </a:rPr>
              <a:t>LLM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23944" y="4407408"/>
            <a:ext cx="17282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69" b="0">
                <a:solidFill>
                  <a:srgbClr val="B4C1D2"/>
                </a:solidFill>
                <a:latin typeface="Aptos"/>
              </a:rPr>
              <a:t>Prompting +
SQL generation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36793" y="3081528"/>
            <a:ext cx="160020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9945" y="3209544"/>
            <a:ext cx="145389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F87171"/>
                </a:solidFill>
                <a:latin typeface="Aptos"/>
              </a:rPr>
              <a:t>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5" y="3538728"/>
            <a:ext cx="14538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69" b="0" dirty="0">
                <a:solidFill>
                  <a:srgbClr val="B4C1D2"/>
                </a:solidFill>
                <a:latin typeface="Aptos"/>
              </a:rPr>
              <a:t>Schema +
safety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02753" y="3081528"/>
            <a:ext cx="160020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69" dirty="0">
                <a:solidFill>
                  <a:srgbClr val="B4C1D2"/>
                </a:solidFill>
                <a:latin typeface="Aptos"/>
              </a:rPr>
              <a:t>Execute SQL</a:t>
            </a:r>
            <a:endParaRPr sz="969" dirty="0">
              <a:solidFill>
                <a:srgbClr val="B4C1D2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375905" y="3209544"/>
            <a:ext cx="1453896" cy="2846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 dirty="0">
                <a:solidFill>
                  <a:srgbClr val="38BDF8"/>
                </a:solidFill>
                <a:latin typeface="Aptos"/>
              </a:rPr>
              <a:t>SQL</a:t>
            </a:r>
            <a:r>
              <a:rPr lang="en-IN" sz="1250" b="1" dirty="0">
                <a:solidFill>
                  <a:srgbClr val="38BDF8"/>
                </a:solidFill>
                <a:latin typeface="Aptos"/>
              </a:rPr>
              <a:t> Engine</a:t>
            </a:r>
            <a:endParaRPr sz="1250" b="1" dirty="0">
              <a:solidFill>
                <a:srgbClr val="38BDF8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10177273" y="3081528"/>
            <a:ext cx="114300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250425" y="3209544"/>
            <a:ext cx="99669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4ADE80"/>
                </a:solidFill>
                <a:latin typeface="Aptos"/>
              </a:rPr>
              <a:t>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68713" y="3466625"/>
            <a:ext cx="996696" cy="5397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IN" sz="969" dirty="0">
                <a:solidFill>
                  <a:srgbClr val="B4C1D2"/>
                </a:solidFill>
                <a:latin typeface="Aptos"/>
              </a:rPr>
              <a:t>Insights, </a:t>
            </a:r>
            <a:r>
              <a:rPr sz="969" b="0" dirty="0">
                <a:solidFill>
                  <a:srgbClr val="B4C1D2"/>
                </a:solidFill>
                <a:latin typeface="Aptos"/>
              </a:rPr>
              <a:t>
chart</a:t>
            </a:r>
            <a:r>
              <a:rPr lang="en-IN" sz="969" b="0" dirty="0">
                <a:solidFill>
                  <a:srgbClr val="B4C1D2"/>
                </a:solidFill>
                <a:latin typeface="Aptos"/>
              </a:rPr>
              <a:t>s and summary</a:t>
            </a:r>
            <a:endParaRPr sz="969" b="0" dirty="0">
              <a:solidFill>
                <a:srgbClr val="B4C1D2"/>
              </a:solidFill>
              <a:latin typeface="Aptos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1901953" y="3538728"/>
            <a:ext cx="320040" cy="0"/>
          </a:xfrm>
          <a:prstGeom prst="line">
            <a:avLst/>
          </a:prstGeom>
          <a:ln w="317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3730753" y="2578608"/>
            <a:ext cx="320039" cy="960120"/>
          </a:xfrm>
          <a:prstGeom prst="line">
            <a:avLst/>
          </a:prstGeom>
          <a:ln w="317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730753" y="3538728"/>
            <a:ext cx="320039" cy="868680"/>
          </a:xfrm>
          <a:prstGeom prst="line">
            <a:avLst/>
          </a:prstGeom>
          <a:ln w="317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5925313" y="3538728"/>
            <a:ext cx="411480" cy="868680"/>
          </a:xfrm>
          <a:prstGeom prst="line">
            <a:avLst/>
          </a:prstGeom>
          <a:ln w="317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936993" y="3538728"/>
            <a:ext cx="365760" cy="0"/>
          </a:xfrm>
          <a:prstGeom prst="line">
            <a:avLst/>
          </a:prstGeom>
          <a:ln w="317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902953" y="3538728"/>
            <a:ext cx="274320" cy="0"/>
          </a:xfrm>
          <a:prstGeom prst="line">
            <a:avLst/>
          </a:prstGeom>
          <a:ln w="317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>
                <a:solidFill>
                  <a:srgbClr val="F1F5F9"/>
                </a:solidFill>
                <a:latin typeface="Aptos"/>
              </a:rPr>
              <a:t>Project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3210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dirty="0">
                <a:solidFill>
                  <a:srgbClr val="B4C1D2"/>
                </a:solidFill>
                <a:latin typeface="Aptos"/>
              </a:rPr>
              <a:t>Key modules and what each part is responsible for.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70432"/>
            <a:ext cx="2148840" cy="47548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07592"/>
            <a:ext cx="1783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38BDF8"/>
                </a:solidFill>
                <a:latin typeface="Aptos"/>
              </a:rPr>
              <a:t>src/app.py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1800" y="1243584"/>
            <a:ext cx="8229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30" b="0">
                <a:solidFill>
                  <a:srgbClr val="F1F5F9"/>
                </a:solidFill>
                <a:latin typeface="Aptos"/>
              </a:rPr>
              <a:t>Streamlit entry point: chat interaction, result display and visualization.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73936"/>
            <a:ext cx="2148840" cy="47548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911095"/>
            <a:ext cx="1783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38BDF8"/>
                </a:solidFill>
                <a:latin typeface="Aptos"/>
              </a:rPr>
              <a:t>src/llm/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1847088"/>
            <a:ext cx="8229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30" b="0">
                <a:solidFill>
                  <a:srgbClr val="F1F5F9"/>
                </a:solidFill>
                <a:latin typeface="Aptos"/>
              </a:rPr>
              <a:t>LLM-facing logic: prompts, SQL generation and related AI processing.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377440"/>
            <a:ext cx="2148840" cy="47548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514600"/>
            <a:ext cx="1783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10B981"/>
                </a:solidFill>
                <a:latin typeface="Aptos"/>
              </a:rPr>
              <a:t>src/rag/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450592"/>
            <a:ext cx="8229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30" b="0">
                <a:solidFill>
                  <a:srgbClr val="F1F5F9"/>
                </a:solidFill>
                <a:latin typeface="Aptos"/>
              </a:rPr>
              <a:t>Document loading, chunking, embeddings, Chroma vector-store ingestion and retrieval.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980944"/>
            <a:ext cx="2148840" cy="47548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118103"/>
            <a:ext cx="1783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10B981"/>
                </a:solidFill>
                <a:latin typeface="Aptos"/>
              </a:rPr>
              <a:t>src/grounding/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3054096"/>
            <a:ext cx="8229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30" b="0">
                <a:solidFill>
                  <a:srgbClr val="F1F5F9"/>
                </a:solidFill>
                <a:latin typeface="Aptos"/>
              </a:rPr>
              <a:t>Grounding abstraction plus graph and embedding retrievers / comparison tests.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584448"/>
            <a:ext cx="2148840" cy="47548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3721608"/>
            <a:ext cx="1783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38BDF8"/>
                </a:solidFill>
                <a:latin typeface="Aptos"/>
              </a:rPr>
              <a:t>src/database/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3657600"/>
            <a:ext cx="8229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30" b="0">
                <a:solidFill>
                  <a:srgbClr val="F1F5F9"/>
                </a:solidFill>
                <a:latin typeface="Aptos"/>
              </a:rPr>
              <a:t>Database inspection and schema access for the SQLite dataset.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187952"/>
            <a:ext cx="2148840" cy="47548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4325112"/>
            <a:ext cx="1783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38BDF8"/>
                </a:solidFill>
                <a:latin typeface="Aptos"/>
              </a:rPr>
              <a:t>src/services/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4261104"/>
            <a:ext cx="8229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30" b="0">
                <a:solidFill>
                  <a:srgbClr val="F1F5F9"/>
                </a:solidFill>
                <a:latin typeface="Aptos"/>
              </a:rPr>
              <a:t>Result summarization, visualization and supporting application services.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4791456"/>
            <a:ext cx="2148840" cy="47548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4928616"/>
            <a:ext cx="1783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38BDF8"/>
                </a:solidFill>
                <a:latin typeface="Aptos"/>
              </a:rPr>
              <a:t>data/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864608"/>
            <a:ext cx="8229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30" b="0">
                <a:solidFill>
                  <a:srgbClr val="F1F5F9"/>
                </a:solidFill>
                <a:latin typeface="Aptos"/>
              </a:rPr>
              <a:t>ESG dataset, knowledge metadata, knowledge graph JSON and source documents.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5394960"/>
            <a:ext cx="2148840" cy="47548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5532120"/>
            <a:ext cx="1783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38BDF8"/>
                </a:solidFill>
                <a:latin typeface="Aptos"/>
              </a:rPr>
              <a:t>chroma_db/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71800" y="5468112"/>
            <a:ext cx="8229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30" b="0">
                <a:solidFill>
                  <a:srgbClr val="F1F5F9"/>
                </a:solidFill>
                <a:latin typeface="Aptos"/>
              </a:rPr>
              <a:t>Persistent vector database created from the document knowledge base.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9768" y="254998"/>
            <a:ext cx="1024128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>
                <a:solidFill>
                  <a:srgbClr val="F1F5F9"/>
                </a:solidFill>
                <a:latin typeface="Aptos"/>
              </a:rPr>
              <a:t>What the </a:t>
            </a:r>
            <a:r>
              <a:rPr sz="3600" b="1" dirty="0">
                <a:solidFill>
                  <a:srgbClr val="10B981"/>
                </a:solidFill>
                <a:latin typeface="Urbanist"/>
              </a:rPr>
              <a:t>application</a:t>
            </a:r>
            <a:r>
              <a:rPr sz="2700" b="1" dirty="0">
                <a:solidFill>
                  <a:srgbClr val="F1F5F9"/>
                </a:solidFill>
                <a:latin typeface="Aptos"/>
              </a:rPr>
              <a:t> does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07592" y="1890258"/>
            <a:ext cx="1353312" cy="29260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80744" y="2073139"/>
            <a:ext cx="12070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8BDF8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99032" y="2621779"/>
            <a:ext cx="117043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1F5F9"/>
                </a:solidFill>
                <a:latin typeface="Aptos"/>
              </a:rPr>
              <a:t>User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3399019"/>
            <a:ext cx="1133856" cy="3939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80" b="0" dirty="0">
                <a:solidFill>
                  <a:srgbClr val="B4C1D2"/>
                </a:solidFill>
                <a:latin typeface="Aptos"/>
              </a:rPr>
              <a:t>Plain-English </a:t>
            </a:r>
            <a:r>
              <a:rPr lang="en-IN" sz="980" dirty="0">
                <a:solidFill>
                  <a:srgbClr val="B4C1D2"/>
                </a:solidFill>
                <a:latin typeface="Aptos"/>
              </a:rPr>
              <a:t>user queries</a:t>
            </a:r>
            <a:endParaRPr sz="980" b="0" dirty="0">
              <a:solidFill>
                <a:srgbClr val="B4C1D2"/>
              </a:solidFill>
              <a:latin typeface="Aptos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2660904" y="3353299"/>
            <a:ext cx="219456" cy="0"/>
          </a:xfrm>
          <a:prstGeom prst="line">
            <a:avLst/>
          </a:prstGeom>
          <a:ln w="317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16936" y="1890258"/>
            <a:ext cx="1353312" cy="2926080"/>
          </a:xfrm>
          <a:prstGeom prst="roundRect">
            <a:avLst/>
          </a:prstGeom>
          <a:solidFill>
            <a:srgbClr val="1E293B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90088" y="2073139"/>
            <a:ext cx="12070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A78BFA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08376" y="2621779"/>
            <a:ext cx="117043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1F5F9"/>
                </a:solidFill>
                <a:latin typeface="Aptos"/>
              </a:rPr>
              <a:t>Intent /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26664" y="3399019"/>
            <a:ext cx="1133856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80" b="0">
                <a:solidFill>
                  <a:srgbClr val="B4C1D2"/>
                </a:solidFill>
                <a:latin typeface="Aptos"/>
              </a:rPr>
              <a:t>Identify metric, dimensions, filters and time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70248" y="3353299"/>
            <a:ext cx="219455" cy="0"/>
          </a:xfrm>
          <a:prstGeom prst="line">
            <a:avLst/>
          </a:prstGeom>
          <a:ln w="317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526280" y="1890258"/>
            <a:ext cx="1353312" cy="2926080"/>
          </a:xfrm>
          <a:prstGeom prst="roundRect">
            <a:avLst/>
          </a:prstGeom>
          <a:solidFill>
            <a:srgbClr val="1E293B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99432" y="2073139"/>
            <a:ext cx="12070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BBF24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621779"/>
            <a:ext cx="117043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1F5F9"/>
                </a:solidFill>
                <a:latin typeface="Aptos"/>
              </a:rPr>
              <a:t>Grounding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8" y="3399019"/>
            <a:ext cx="1133856" cy="8463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IN" sz="980" dirty="0">
                <a:solidFill>
                  <a:srgbClr val="B4C1D2"/>
                </a:solidFill>
                <a:latin typeface="Aptos"/>
              </a:rPr>
              <a:t>Resolve business terminology to relevant ESG metrics and dimensions</a:t>
            </a:r>
            <a:endParaRPr sz="980" dirty="0">
              <a:solidFill>
                <a:srgbClr val="B4C1D2"/>
              </a:solidFill>
              <a:latin typeface="Aptos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5879592" y="3353299"/>
            <a:ext cx="219456" cy="0"/>
          </a:xfrm>
          <a:prstGeom prst="line">
            <a:avLst/>
          </a:prstGeom>
          <a:ln w="317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135624" y="1890258"/>
            <a:ext cx="1353312" cy="292608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08776" y="2073139"/>
            <a:ext cx="12070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0B981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27064" y="2621779"/>
            <a:ext cx="117043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1F5F9"/>
                </a:solidFill>
                <a:latin typeface="Aptos"/>
              </a:rPr>
              <a:t>LLM SQL generation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5352" y="3399019"/>
            <a:ext cx="1133856" cy="9971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IN" sz="980" dirty="0">
                <a:solidFill>
                  <a:srgbClr val="B4C1D2"/>
                </a:solidFill>
                <a:latin typeface="Aptos"/>
              </a:rPr>
              <a:t>Generates SQL by combining the user's intent, database schema, and business context.</a:t>
            </a:r>
            <a:r>
              <a:rPr sz="980" dirty="0">
                <a:solidFill>
                  <a:srgbClr val="B4C1D2"/>
                </a:solidFill>
                <a:latin typeface="Aptos"/>
              </a:rPr>
              <a:t> 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488936" y="3353299"/>
            <a:ext cx="219456" cy="0"/>
          </a:xfrm>
          <a:prstGeom prst="line">
            <a:avLst/>
          </a:prstGeom>
          <a:ln w="317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744968" y="1890258"/>
            <a:ext cx="1353312" cy="2926080"/>
          </a:xfrm>
          <a:prstGeom prst="roundRect">
            <a:avLst/>
          </a:prstGeom>
          <a:solidFill>
            <a:srgbClr val="1E293B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818120" y="2073139"/>
            <a:ext cx="12070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87171"/>
                </a:solidFill>
                <a:latin typeface="Apto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2621779"/>
            <a:ext cx="117043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1F5F9"/>
                </a:solidFill>
                <a:latin typeface="Aptos"/>
              </a:rPr>
              <a:t>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54696" y="3399019"/>
            <a:ext cx="1133856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80" b="0">
                <a:solidFill>
                  <a:srgbClr val="B4C1D2"/>
                </a:solidFill>
                <a:latin typeface="Aptos"/>
              </a:rPr>
              <a:t>Reject unsafe / invalid SQL before execution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098280" y="3353299"/>
            <a:ext cx="219456" cy="0"/>
          </a:xfrm>
          <a:prstGeom prst="line">
            <a:avLst/>
          </a:prstGeom>
          <a:ln w="317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317736" y="1890258"/>
            <a:ext cx="1353312" cy="292608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390888" y="2073139"/>
            <a:ext cx="1207008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IN" b="1" dirty="0">
                <a:solidFill>
                  <a:srgbClr val="4ADE80"/>
                </a:solidFill>
                <a:latin typeface="Aptos"/>
              </a:rPr>
              <a:t>6</a:t>
            </a:r>
            <a:endParaRPr sz="1800" b="1" dirty="0">
              <a:solidFill>
                <a:srgbClr val="4ADE80"/>
              </a:solidFill>
              <a:latin typeface="Apto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409176" y="2621779"/>
            <a:ext cx="117043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dirty="0">
                <a:solidFill>
                  <a:srgbClr val="F1F5F9"/>
                </a:solidFill>
                <a:latin typeface="Aptos"/>
              </a:rPr>
              <a:t>Insight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64040" y="3390375"/>
            <a:ext cx="1133856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80" b="0" dirty="0">
                <a:solidFill>
                  <a:srgbClr val="B4C1D2"/>
                </a:solidFill>
                <a:latin typeface="Aptos"/>
              </a:rPr>
              <a:t>Table, visualization and natural-language result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60227"/>
            <a:ext cx="5238750" cy="36671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2060227"/>
            <a:ext cx="5238750" cy="36671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7275" y="2546002"/>
            <a:ext cx="448056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38BDF8"/>
                </a:solidFill>
                <a:latin typeface="Urbanist"/>
              </a:rPr>
              <a:t>Large Language Model (LLM)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7275" y="3003202"/>
            <a:ext cx="426720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7275" y="3212752"/>
            <a:ext cx="4267200" cy="1512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CBD5E1"/>
                </a:solidFill>
                <a:latin typeface="Urbanist"/>
              </a:rPr>
              <a:t>Powering the core intelligence of the application. Responsible for Intent Classification, complex SQL Generation</a:t>
            </a:r>
            <a:r>
              <a:rPr lang="en-IN" sz="1500" b="0" i="0" u="none" dirty="0">
                <a:solidFill>
                  <a:srgbClr val="CBD5E1"/>
                </a:solidFill>
                <a:latin typeface="Urbanist"/>
              </a:rPr>
              <a:t>, 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and Contextual Summarization. It translates strict reporting standards into natural conversational output.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67525" y="2546002"/>
            <a:ext cx="4480560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38BDF8"/>
                </a:solidFill>
                <a:latin typeface="Urbanist"/>
              </a:rPr>
              <a:t>Retrieval-Augmented Generation (RAG)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67525" y="3365152"/>
            <a:ext cx="426720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67525" y="3574702"/>
            <a:ext cx="426720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CBD5E1"/>
                </a:solidFill>
                <a:latin typeface="Urbanist"/>
              </a:rPr>
              <a:t>Ensures zero-hallucination accuracy. Utilizes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ChromaDB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to store and retrieve vital ESG Metadata, Column Descriptions, Table Relationships, and Business Context, directly grounding the LLM before SQL is generated.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 dirty="0">
                <a:solidFill>
                  <a:srgbClr val="F8FAFC"/>
                </a:solidFill>
                <a:latin typeface="Urbanist"/>
              </a:rPr>
              <a:t>Core </a:t>
            </a:r>
            <a:r>
              <a:rPr sz="3600" b="1" i="0" u="none" dirty="0">
                <a:solidFill>
                  <a:srgbClr val="38BDF8"/>
                </a:solidFill>
                <a:latin typeface="Urbanist"/>
              </a:rPr>
              <a:t>GenAI Engine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2F5FA"/>
                </a:solidFill>
                <a:latin typeface="Aptos Display"/>
              </a:defRPr>
            </a:pPr>
            <a:r>
              <a:rPr dirty="0"/>
              <a:t>LLM — Where It Is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98755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AB5C7"/>
                </a:solidFill>
                <a:latin typeface="Aptos"/>
              </a:defRPr>
            </a:pPr>
            <a:r>
              <a:t>The project uses the LLM at three distinct points in the query lifecycle.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3337560" cy="4251960"/>
          </a:xfrm>
          <a:prstGeom prst="roundRect">
            <a:avLst/>
          </a:prstGeom>
          <a:solidFill>
            <a:srgbClr val="1F2B40"/>
          </a:solidFill>
          <a:ln>
            <a:solidFill>
              <a:srgbClr val="404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7552" y="18013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6BEF0"/>
                </a:solidFill>
                <a:latin typeface="Aptos Display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2221992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36BEF0"/>
                </a:solidFill>
                <a:latin typeface="Aptos Display"/>
              </a:defRPr>
            </a:pPr>
            <a:r>
              <a:t>Intent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862072"/>
            <a:ext cx="27889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E7EBF2"/>
                </a:solidFill>
                <a:latin typeface="Aptos"/>
              </a:defRPr>
            </a:pPr>
            <a:r>
              <a:t>Classifies the user's request before SQL generation.</a:t>
            </a:r>
          </a:p>
          <a:p>
            <a:pPr>
              <a:spcAft>
                <a:spcPts val="800"/>
              </a:spcAft>
              <a:defRPr sz="1250">
                <a:solidFill>
                  <a:srgbClr val="E7EBF2"/>
                </a:solidFill>
                <a:latin typeface="Aptos"/>
              </a:defRPr>
            </a:pPr>
            <a:r>
              <a:t>• READ — valid ESG analytics query</a:t>
            </a:r>
          </a:p>
          <a:p>
            <a:pPr>
              <a:spcAft>
                <a:spcPts val="800"/>
              </a:spcAft>
              <a:defRPr sz="1250">
                <a:solidFill>
                  <a:srgbClr val="E7EBF2"/>
                </a:solidFill>
                <a:latin typeface="Aptos"/>
              </a:defRPr>
            </a:pPr>
            <a:r>
              <a:t>• WRITE — database modification request</a:t>
            </a:r>
          </a:p>
          <a:p>
            <a:pPr>
              <a:spcAft>
                <a:spcPts val="800"/>
              </a:spcAft>
              <a:defRPr sz="1250">
                <a:solidFill>
                  <a:srgbClr val="E7EBF2"/>
                </a:solidFill>
                <a:latin typeface="Aptos"/>
              </a:defRPr>
            </a:pPr>
            <a:r>
              <a:t>• OFF_TOPIC — unrelated or invalid request</a:t>
            </a:r>
          </a:p>
          <a:p>
            <a:pPr>
              <a:spcAft>
                <a:spcPts val="800"/>
              </a:spcAft>
              <a:defRPr sz="1250">
                <a:solidFill>
                  <a:srgbClr val="E7EBF2"/>
                </a:solidFill>
                <a:latin typeface="Aptos"/>
              </a:defRPr>
            </a:pPr>
            <a:r>
              <a:t>Output: READ / WRITE / OFF_TOPIC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600200"/>
            <a:ext cx="3337560" cy="4251960"/>
          </a:xfrm>
          <a:prstGeom prst="roundRect">
            <a:avLst/>
          </a:prstGeom>
          <a:solidFill>
            <a:srgbClr val="1F2B40"/>
          </a:solidFill>
          <a:ln>
            <a:solidFill>
              <a:srgbClr val="404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18013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9F7DF6"/>
                </a:solidFill>
                <a:latin typeface="Aptos Display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221992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9F7DF6"/>
                </a:solidFill>
                <a:latin typeface="Aptos Display"/>
              </a:defRPr>
            </a:pPr>
            <a:r>
              <a:t>SQL Generation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862072"/>
            <a:ext cx="27889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E7EBF2"/>
                </a:solidFill>
                <a:latin typeface="Aptos"/>
              </a:defRPr>
            </a:pPr>
            <a:r>
              <a:t>Converts the request into one SQLite SELECT statement.</a:t>
            </a:r>
          </a:p>
          <a:p>
            <a:pPr>
              <a:spcAft>
                <a:spcPts val="800"/>
              </a:spcAft>
              <a:defRPr sz="1250">
                <a:solidFill>
                  <a:srgbClr val="E7EBF2"/>
                </a:solidFill>
                <a:latin typeface="Aptos"/>
              </a:defRPr>
            </a:pPr>
            <a:r>
              <a:t>Uses:</a:t>
            </a:r>
          </a:p>
          <a:p>
            <a:pPr>
              <a:spcAft>
                <a:spcPts val="800"/>
              </a:spcAft>
              <a:defRPr sz="1250">
                <a:solidFill>
                  <a:srgbClr val="E7EBF2"/>
                </a:solidFill>
                <a:latin typeface="Aptos"/>
              </a:defRPr>
            </a:pPr>
            <a:r>
              <a:t>• User question &amp; intent</a:t>
            </a:r>
          </a:p>
          <a:p>
            <a:pPr>
              <a:spcAft>
                <a:spcPts val="800"/>
              </a:spcAft>
              <a:defRPr sz="1250">
                <a:solidFill>
                  <a:srgbClr val="E7EBF2"/>
                </a:solidFill>
                <a:latin typeface="Aptos"/>
              </a:defRPr>
            </a:pPr>
            <a:r>
              <a:t>• Database schema from get_schema()</a:t>
            </a:r>
          </a:p>
          <a:p>
            <a:pPr>
              <a:spcAft>
                <a:spcPts val="800"/>
              </a:spcAft>
              <a:defRPr sz="1250">
                <a:solidFill>
                  <a:srgbClr val="E7EBF2"/>
                </a:solidFill>
                <a:latin typeface="Aptos"/>
              </a:defRPr>
            </a:pPr>
            <a:r>
              <a:t>• Grounding / ESG business context</a:t>
            </a:r>
          </a:p>
          <a:p>
            <a:pPr>
              <a:spcAft>
                <a:spcPts val="800"/>
              </a:spcAft>
              <a:defRPr sz="1250">
                <a:solidFill>
                  <a:srgbClr val="E7EBF2"/>
                </a:solidFill>
                <a:latin typeface="Aptos"/>
              </a:defRPr>
            </a:pPr>
            <a:r>
              <a:t>• Relevant conversation history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1600200"/>
            <a:ext cx="3337560" cy="4251960"/>
          </a:xfrm>
          <a:prstGeom prst="roundRect">
            <a:avLst/>
          </a:prstGeom>
          <a:solidFill>
            <a:srgbClr val="1F2B40"/>
          </a:solidFill>
          <a:ln>
            <a:solidFill>
              <a:srgbClr val="404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39327" y="18013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6F6F"/>
                </a:solidFill>
                <a:latin typeface="Aptos Display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7" y="2221992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6F6F"/>
                </a:solidFill>
                <a:latin typeface="Aptos Display"/>
              </a:defRPr>
            </a:pPr>
            <a:r>
              <a:t>Insight Generation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7" y="2862072"/>
            <a:ext cx="27889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E7EBF2"/>
                </a:solidFill>
                <a:latin typeface="Aptos"/>
              </a:defRPr>
            </a:pPr>
            <a:r>
              <a:t>Turns query results into a concise business summary.</a:t>
            </a:r>
          </a:p>
          <a:p>
            <a:pPr>
              <a:spcAft>
                <a:spcPts val="800"/>
              </a:spcAft>
              <a:defRPr sz="1250">
                <a:solidFill>
                  <a:srgbClr val="E7EBF2"/>
                </a:solidFill>
                <a:latin typeface="Aptos"/>
              </a:defRPr>
            </a:pPr>
            <a:r>
              <a:t>The LLM:</a:t>
            </a:r>
          </a:p>
          <a:p>
            <a:pPr>
              <a:spcAft>
                <a:spcPts val="800"/>
              </a:spcAft>
              <a:defRPr sz="1250">
                <a:solidFill>
                  <a:srgbClr val="E7EBF2"/>
                </a:solidFill>
                <a:latin typeface="Aptos"/>
              </a:defRPr>
            </a:pPr>
            <a:r>
              <a:t>• Highlights highest / lowest values</a:t>
            </a:r>
          </a:p>
          <a:p>
            <a:pPr>
              <a:spcAft>
                <a:spcPts val="800"/>
              </a:spcAft>
              <a:defRPr sz="1250">
                <a:solidFill>
                  <a:srgbClr val="E7EBF2"/>
                </a:solidFill>
                <a:latin typeface="Aptos"/>
              </a:defRPr>
            </a:pPr>
            <a:r>
              <a:t>• Identifies visible trends</a:t>
            </a:r>
          </a:p>
          <a:p>
            <a:pPr>
              <a:spcAft>
                <a:spcPts val="800"/>
              </a:spcAft>
              <a:defRPr sz="1250">
                <a:solidFill>
                  <a:srgbClr val="E7EBF2"/>
                </a:solidFill>
                <a:latin typeface="Aptos"/>
              </a:defRPr>
            </a:pPr>
            <a:r>
              <a:t>• Makes significant comparisons</a:t>
            </a:r>
          </a:p>
          <a:p>
            <a:pPr>
              <a:spcAft>
                <a:spcPts val="800"/>
              </a:spcAft>
              <a:defRPr sz="1250">
                <a:solidFill>
                  <a:srgbClr val="E7EBF2"/>
                </a:solidFill>
                <a:latin typeface="Aptos"/>
              </a:defRPr>
            </a:pPr>
            <a:r>
              <a:t>• Avoids SQL terminology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E543CA-0126-0D1C-A9E6-140A23FC7349}"/>
              </a:ext>
            </a:extLst>
          </p:cNvPr>
          <p:cNvSpPr txBox="1"/>
          <p:nvPr/>
        </p:nvSpPr>
        <p:spPr>
          <a:xfrm>
            <a:off x="788494" y="6126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 dirty="0">
                <a:solidFill>
                  <a:srgbClr val="10B981"/>
                </a:solidFill>
                <a:latin typeface="Aptos"/>
              </a:rPr>
              <a:t>Configured model in the current project: GPT-OSS-120B through the project's LLM API configuration.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24128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>
                <a:solidFill>
                  <a:srgbClr val="F1F5F9"/>
                </a:solidFill>
                <a:latin typeface="Aptos"/>
              </a:rPr>
              <a:t>RAG / embedding-based </a:t>
            </a:r>
            <a:r>
              <a:rPr sz="3600" b="1" dirty="0">
                <a:solidFill>
                  <a:srgbClr val="38BDF8"/>
                </a:solidFill>
                <a:latin typeface="Urbanist"/>
              </a:rPr>
              <a:t>knowledge base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3383280" cy="4526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59" y="1371600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38BDF8"/>
                </a:solidFill>
                <a:latin typeface="Aptos"/>
              </a:rPr>
              <a:t>Knowledge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1764792"/>
            <a:ext cx="3017520" cy="3886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 dirty="0">
                <a:solidFill>
                  <a:srgbClr val="F1F5F9"/>
                </a:solidFill>
                <a:latin typeface="Aptos"/>
              </a:rPr>
              <a:t>PDF documents contain:
• ESG data dictionary
• KPI definitions
• SQL metadata / generation guidance
• Business synonyms
These documents are loaded, split into chunks and embedded.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234440"/>
            <a:ext cx="3383280" cy="4526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0560" y="1371600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10B981"/>
                </a:solidFill>
                <a:latin typeface="Aptos"/>
              </a:rPr>
              <a:t>Vector retrieval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764792"/>
            <a:ext cx="3017520" cy="3886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F1F5F9"/>
                </a:solidFill>
                <a:latin typeface="Aptos"/>
              </a:rPr>
              <a:t>BGE embedding model converts text into vectors.
ChromaDB stores the vectors and metadata.
At query time, the question is embedded and the most similar chunks are retrieved.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234440"/>
            <a:ext cx="3383280" cy="4526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38159" y="1371600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BBF24"/>
                </a:solidFill>
                <a:latin typeface="Aptos"/>
              </a:rPr>
              <a:t>What the LLM receives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59" y="1764792"/>
            <a:ext cx="3017520" cy="228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/>
            <a:r>
              <a:rPr lang="en-IN" sz="1180" dirty="0">
                <a:solidFill>
                  <a:srgbClr val="F1F5F9"/>
                </a:solidFill>
                <a:latin typeface="Aptos"/>
              </a:rPr>
              <a:t>User question , Retrieved ESG business context , Database schema ,and Conversation history, when relevant</a:t>
            </a:r>
          </a:p>
          <a:p>
            <a:pPr algn="l"/>
            <a:r>
              <a:rPr sz="1180" b="0" dirty="0">
                <a:solidFill>
                  <a:srgbClr val="F1F5F9"/>
                </a:solidFill>
                <a:latin typeface="Aptos"/>
              </a:rPr>
              <a:t>
Trade-off: retrieval ranking can return related context without guaranteeing the exact required column mapping.</a:t>
            </a:r>
            <a:endParaRPr lang="en-IN" sz="1180" b="0" dirty="0">
              <a:solidFill>
                <a:srgbClr val="F1F5F9"/>
              </a:solidFill>
              <a:latin typeface="Aptos"/>
            </a:endParaRPr>
          </a:p>
          <a:p>
            <a:pPr algn="l"/>
            <a:endParaRPr lang="en-IN" sz="1180" dirty="0">
              <a:solidFill>
                <a:srgbClr val="F1F5F9"/>
              </a:solidFill>
              <a:latin typeface="Aptos"/>
            </a:endParaRPr>
          </a:p>
          <a:p>
            <a:r>
              <a:rPr lang="en-IN" sz="1180" dirty="0">
                <a:solidFill>
                  <a:srgbClr val="F1F5F9"/>
                </a:solidFill>
                <a:latin typeface="Aptos"/>
              </a:rPr>
              <a:t>Retrieval is based on semantic similarity, so relevant-but-not-exact chunks can be returned.</a:t>
            </a:r>
            <a:endParaRPr sz="1180" dirty="0">
              <a:solidFill>
                <a:srgbClr val="F1F5F9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5897880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 dirty="0">
                <a:solidFill>
                  <a:srgbClr val="B4C1D2"/>
                </a:solidFill>
                <a:latin typeface="Aptos"/>
              </a:rPr>
              <a:t>Embedding model used by the project: BAAI/bge-base-en-v1.5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24128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>
                <a:solidFill>
                  <a:srgbClr val="F1F5F9"/>
                </a:solidFill>
                <a:latin typeface="Aptos"/>
              </a:rPr>
              <a:t>SQL validation &amp; </a:t>
            </a:r>
            <a:r>
              <a:rPr sz="3600" b="1" dirty="0">
                <a:solidFill>
                  <a:srgbClr val="38BDF8"/>
                </a:solidFill>
                <a:latin typeface="Urbanist"/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3210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B4C1D2"/>
                </a:solidFill>
                <a:latin typeface="Aptos"/>
              </a:rPr>
              <a:t>The generated SQL is treated as untrusted output until it passes validation.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333756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59" y="1417319"/>
            <a:ext cx="2971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87171"/>
                </a:solidFill>
                <a:latin typeface="Aptos"/>
              </a:rPr>
              <a:t>SQL safety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1810512"/>
            <a:ext cx="29718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 dirty="0">
                <a:solidFill>
                  <a:srgbClr val="F1F5F9"/>
                </a:solidFill>
                <a:latin typeface="Aptos"/>
              </a:rPr>
              <a:t>Only read-only SELECT queries are supported.
The validator rejects destructive / unsupported operations such as:
DELETE, UPDATE, INSERT, DROP, ALTER, CREATE, MERGE, TRUNCATE, PRAGMA, ATTACH, DETACH.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280160"/>
            <a:ext cx="333756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34840" y="1417319"/>
            <a:ext cx="2971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BBF24"/>
                </a:solidFill>
                <a:latin typeface="Aptos"/>
              </a:rPr>
              <a:t>Schema 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810512"/>
            <a:ext cx="2971800" cy="3360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/>
            <a:r>
              <a:rPr lang="en-IN" sz="1180" dirty="0" err="1">
                <a:solidFill>
                  <a:srgbClr val="F1F5F9"/>
                </a:solidFill>
                <a:latin typeface="Aptos"/>
              </a:rPr>
              <a:t>SQLGlot</a:t>
            </a:r>
            <a:r>
              <a:rPr lang="en-IN" sz="1180" dirty="0">
                <a:solidFill>
                  <a:srgbClr val="F1F5F9"/>
                </a:solidFill>
                <a:latin typeface="Aptos"/>
              </a:rPr>
              <a:t> parses the generated SQL and </a:t>
            </a:r>
            <a:r>
              <a:rPr lang="en-IN" sz="1180" dirty="0" err="1">
                <a:solidFill>
                  <a:srgbClr val="F1F5F9"/>
                </a:solidFill>
                <a:latin typeface="Aptos"/>
              </a:rPr>
              <a:t>analyzes</a:t>
            </a:r>
            <a:r>
              <a:rPr lang="en-IN" sz="1180" dirty="0">
                <a:solidFill>
                  <a:srgbClr val="F1F5F9"/>
                </a:solidFill>
                <a:latin typeface="Aptos"/>
              </a:rPr>
              <a:t> its AST. </a:t>
            </a:r>
          </a:p>
          <a:p>
            <a:pPr lvl="0"/>
            <a:endParaRPr lang="en-IN" sz="1180" dirty="0">
              <a:solidFill>
                <a:srgbClr val="F1F5F9"/>
              </a:solidFill>
              <a:latin typeface="Aptos"/>
            </a:endParaRPr>
          </a:p>
          <a:p>
            <a:pPr lvl="0"/>
            <a:r>
              <a:rPr lang="en-IN" sz="1180" dirty="0" err="1">
                <a:solidFill>
                  <a:srgbClr val="F1F5F9"/>
                </a:solidFill>
                <a:latin typeface="Aptos"/>
              </a:rPr>
              <a:t>SQLAlchemy</a:t>
            </a:r>
            <a:r>
              <a:rPr lang="en-IN" sz="1180" dirty="0">
                <a:solidFill>
                  <a:srgbClr val="F1F5F9"/>
                </a:solidFill>
                <a:latin typeface="Aptos"/>
              </a:rPr>
              <a:t> Inspector reads the live database schema and validates referenced tables and columns. </a:t>
            </a:r>
          </a:p>
          <a:p>
            <a:pPr lvl="0"/>
            <a:endParaRPr lang="en-IN" sz="1180" dirty="0">
              <a:solidFill>
                <a:srgbClr val="F1F5F9"/>
              </a:solidFill>
              <a:latin typeface="Aptos"/>
            </a:endParaRPr>
          </a:p>
          <a:p>
            <a:pPr lvl="0"/>
            <a:r>
              <a:rPr lang="en-IN" sz="1180" dirty="0">
                <a:solidFill>
                  <a:srgbClr val="F1F5F9"/>
                </a:solidFill>
                <a:latin typeface="Aptos"/>
              </a:rPr>
              <a:t>Allows only a single read-only SELECT statement and rejects unsafe/unsupported SQL operations. </a:t>
            </a:r>
          </a:p>
          <a:p>
            <a:pPr lvl="0"/>
            <a:endParaRPr lang="en-IN" sz="1180" dirty="0">
              <a:solidFill>
                <a:srgbClr val="F1F5F9"/>
              </a:solidFill>
              <a:latin typeface="Aptos"/>
            </a:endParaRPr>
          </a:p>
          <a:p>
            <a:pPr lvl="0"/>
            <a:r>
              <a:rPr lang="en-IN" sz="1180" dirty="0">
                <a:solidFill>
                  <a:srgbClr val="F1F5F9"/>
                </a:solidFill>
                <a:latin typeface="Aptos"/>
              </a:rPr>
              <a:t>Rejects unknown tables, columns, and identifiers before the query reaches the database. </a:t>
            </a:r>
          </a:p>
          <a:p>
            <a:pPr lvl="0"/>
            <a:endParaRPr lang="en-IN" sz="1180" dirty="0">
              <a:solidFill>
                <a:srgbClr val="F1F5F9"/>
              </a:solidFill>
              <a:latin typeface="Aptos"/>
            </a:endParaRPr>
          </a:p>
          <a:p>
            <a:pPr lvl="0"/>
            <a:r>
              <a:rPr lang="en-IN" sz="1180" dirty="0">
                <a:solidFill>
                  <a:srgbClr val="F1F5F9"/>
                </a:solidFill>
                <a:latin typeface="Aptos"/>
              </a:rPr>
              <a:t>Enforces a maximum 1,000-row limit before execution, providing a safety boundary between the LLM and database.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280160"/>
            <a:ext cx="333756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19" y="1417319"/>
            <a:ext cx="2971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10B981"/>
                </a:solidFill>
                <a:latin typeface="Aptos"/>
              </a:rPr>
              <a:t>Execution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9" y="1810512"/>
            <a:ext cx="29718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F1F5F9"/>
                </a:solidFill>
                <a:latin typeface="Aptos"/>
              </a:rPr>
              <a:t>Only after validation does the query reach SQLite.
The returned dataframe becomes the input for visualization and natural-language result summarization.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24128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>
                <a:solidFill>
                  <a:srgbClr val="F1F5F9"/>
                </a:solidFill>
                <a:latin typeface="Aptos"/>
              </a:rPr>
              <a:t>Results, </a:t>
            </a:r>
            <a:r>
              <a:rPr sz="3600" b="1" dirty="0">
                <a:solidFill>
                  <a:srgbClr val="10B981"/>
                </a:solidFill>
                <a:latin typeface="Urbanist"/>
              </a:rPr>
              <a:t>visualization</a:t>
            </a:r>
            <a:r>
              <a:rPr sz="2700" b="1" dirty="0">
                <a:solidFill>
                  <a:srgbClr val="F1F5F9"/>
                </a:solidFill>
                <a:latin typeface="Aptos"/>
              </a:rPr>
              <a:t> &amp; conversational answer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C472F31-1DE0-0741-1136-0F93D0C69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820" y="1404878"/>
            <a:ext cx="10920678" cy="4456276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>
                <a:solidFill>
                  <a:srgbClr val="F1F5F9"/>
                </a:solidFill>
                <a:latin typeface="Aptos"/>
              </a:rPr>
              <a:t>Knowledge graph approach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3383280" cy="4526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59" y="1371600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10B981"/>
                </a:solidFill>
                <a:latin typeface="Aptos"/>
              </a:rPr>
              <a:t>JSON contains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1764792"/>
            <a:ext cx="3017520" cy="3886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 dirty="0">
                <a:solidFill>
                  <a:srgbClr val="F1F5F9"/>
                </a:solidFill>
                <a:latin typeface="Aptos"/>
              </a:rPr>
              <a:t>• KPI definitions
• Dimension definitions
• Physical DB column names
• Human-readable names
• Business aliases / synonyms
• Aggregation rules
• Units
• Grouping guidance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234440"/>
            <a:ext cx="3383280" cy="4526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0560" y="1371600"/>
            <a:ext cx="3017520" cy="3154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450" b="1" dirty="0">
                <a:solidFill>
                  <a:srgbClr val="38BDF8"/>
                </a:solidFill>
                <a:latin typeface="Aptos"/>
              </a:rPr>
              <a:t>How the graph works</a:t>
            </a:r>
            <a:endParaRPr sz="1450" b="1" dirty="0">
              <a:solidFill>
                <a:srgbClr val="38BDF8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480560" y="1764792"/>
            <a:ext cx="3017520" cy="317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/>
            <a:r>
              <a:rPr lang="en-IN" sz="1180" dirty="0">
                <a:solidFill>
                  <a:srgbClr val="F1F5F9"/>
                </a:solidFill>
                <a:latin typeface="Aptos"/>
              </a:rPr>
              <a:t>User question is matched against KPIs, dimensions and aliases </a:t>
            </a:r>
          </a:p>
          <a:p>
            <a:pPr lvl="0"/>
            <a:endParaRPr lang="en-IN" sz="1180" dirty="0">
              <a:solidFill>
                <a:srgbClr val="F1F5F9"/>
              </a:solidFill>
              <a:latin typeface="Aptos"/>
            </a:endParaRPr>
          </a:p>
          <a:p>
            <a:pPr lvl="0"/>
            <a:r>
              <a:rPr lang="en-IN" sz="1180" dirty="0">
                <a:solidFill>
                  <a:srgbClr val="F1F5F9"/>
                </a:solidFill>
                <a:latin typeface="Aptos"/>
              </a:rPr>
              <a:t>Exact business terms are resolved to known database columns </a:t>
            </a:r>
          </a:p>
          <a:p>
            <a:pPr lvl="0"/>
            <a:endParaRPr lang="en-IN" sz="1180" dirty="0">
              <a:solidFill>
                <a:srgbClr val="F1F5F9"/>
              </a:solidFill>
              <a:latin typeface="Aptos"/>
            </a:endParaRPr>
          </a:p>
          <a:p>
            <a:pPr lvl="0"/>
            <a:r>
              <a:rPr lang="en-IN" sz="1180" dirty="0">
                <a:solidFill>
                  <a:srgbClr val="F1F5F9"/>
                </a:solidFill>
                <a:latin typeface="Aptos"/>
              </a:rPr>
              <a:t>Business synonyms can map to multiple KPIs </a:t>
            </a:r>
          </a:p>
          <a:p>
            <a:pPr lvl="0"/>
            <a:endParaRPr lang="en-IN" sz="1180" dirty="0">
              <a:solidFill>
                <a:srgbClr val="F1F5F9"/>
              </a:solidFill>
              <a:latin typeface="Aptos"/>
            </a:endParaRPr>
          </a:p>
          <a:p>
            <a:pPr lvl="0"/>
            <a:r>
              <a:rPr lang="en-IN" sz="1180" dirty="0">
                <a:solidFill>
                  <a:srgbClr val="F1F5F9"/>
                </a:solidFill>
                <a:latin typeface="Aptos"/>
              </a:rPr>
              <a:t>Relevant aggregation and grouping rules are included </a:t>
            </a:r>
          </a:p>
          <a:p>
            <a:pPr lvl="0"/>
            <a:endParaRPr lang="en-IN" sz="1180" dirty="0">
              <a:solidFill>
                <a:srgbClr val="F1F5F9"/>
              </a:solidFill>
              <a:latin typeface="Aptos"/>
            </a:endParaRPr>
          </a:p>
          <a:p>
            <a:pPr lvl="0"/>
            <a:r>
              <a:rPr lang="en-IN" sz="1180" dirty="0">
                <a:solidFill>
                  <a:srgbClr val="F1F5F9"/>
                </a:solidFill>
                <a:latin typeface="Aptos"/>
              </a:rPr>
              <a:t>Produces structured grounding context for SQL generation </a:t>
            </a:r>
          </a:p>
          <a:p>
            <a:pPr lvl="0"/>
            <a:endParaRPr lang="en-IN" sz="1180" dirty="0">
              <a:solidFill>
                <a:srgbClr val="F1F5F9"/>
              </a:solidFill>
              <a:latin typeface="Aptos"/>
            </a:endParaRPr>
          </a:p>
          <a:p>
            <a:pPr lvl="0"/>
            <a:r>
              <a:rPr lang="en-IN" sz="1180" dirty="0">
                <a:solidFill>
                  <a:srgbClr val="F1F5F9"/>
                </a:solidFill>
                <a:latin typeface="Aptos"/>
              </a:rPr>
              <a:t>No embedding model is required for graph resolution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234440"/>
            <a:ext cx="3383280" cy="4526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38159" y="1371600"/>
            <a:ext cx="30175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450" b="1" dirty="0">
                <a:solidFill>
                  <a:srgbClr val="FBBF24"/>
                </a:solidFill>
                <a:latin typeface="Aptos"/>
              </a:rPr>
              <a:t>Key</a:t>
            </a:r>
            <a:r>
              <a:rPr lang="en-IN" sz="1600" dirty="0"/>
              <a:t> </a:t>
            </a:r>
            <a:r>
              <a:rPr lang="en-IN" sz="1450" b="1" dirty="0">
                <a:solidFill>
                  <a:srgbClr val="FBBF24"/>
                </a:solidFill>
                <a:latin typeface="Aptos"/>
              </a:rPr>
              <a:t>characteristics</a:t>
            </a:r>
            <a:endParaRPr sz="1450" b="1" dirty="0">
              <a:solidFill>
                <a:srgbClr val="FBBF24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138159" y="1764792"/>
            <a:ext cx="3017520" cy="28161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/>
            <a:r>
              <a:rPr lang="en-IN" sz="1180" dirty="0">
                <a:solidFill>
                  <a:srgbClr val="F1F5F9"/>
                </a:solidFill>
                <a:latin typeface="Aptos"/>
              </a:rPr>
              <a:t>Deterministic: same input → same grounding result </a:t>
            </a:r>
          </a:p>
          <a:p>
            <a:pPr lvl="0"/>
            <a:endParaRPr lang="en-IN" sz="1180" dirty="0">
              <a:solidFill>
                <a:srgbClr val="F1F5F9"/>
              </a:solidFill>
              <a:latin typeface="Aptos"/>
            </a:endParaRPr>
          </a:p>
          <a:p>
            <a:pPr lvl="0"/>
            <a:r>
              <a:rPr lang="en-IN" sz="1180" dirty="0">
                <a:solidFill>
                  <a:srgbClr val="F1F5F9"/>
                </a:solidFill>
                <a:latin typeface="Aptos"/>
              </a:rPr>
              <a:t>Schema-aware: mappings point to actual DB columns </a:t>
            </a:r>
          </a:p>
          <a:p>
            <a:pPr lvl="0"/>
            <a:endParaRPr lang="en-IN" sz="1180" dirty="0">
              <a:solidFill>
                <a:srgbClr val="F1F5F9"/>
              </a:solidFill>
              <a:latin typeface="Aptos"/>
            </a:endParaRPr>
          </a:p>
          <a:p>
            <a:pPr lvl="0"/>
            <a:r>
              <a:rPr lang="en-IN" sz="1180" dirty="0">
                <a:solidFill>
                  <a:srgbClr val="F1F5F9"/>
                </a:solidFill>
                <a:latin typeface="Aptos"/>
              </a:rPr>
              <a:t>Explicit: business terminology is defined rather than inferred </a:t>
            </a:r>
          </a:p>
          <a:p>
            <a:pPr lvl="0"/>
            <a:endParaRPr lang="en-IN" sz="1180" dirty="0">
              <a:solidFill>
                <a:srgbClr val="F1F5F9"/>
              </a:solidFill>
              <a:latin typeface="Aptos"/>
            </a:endParaRPr>
          </a:p>
          <a:p>
            <a:pPr lvl="0"/>
            <a:r>
              <a:rPr lang="en-IN" sz="1180" dirty="0">
                <a:solidFill>
                  <a:srgbClr val="F1F5F9"/>
                </a:solidFill>
                <a:latin typeface="Aptos"/>
              </a:rPr>
              <a:t>Lightweight: JSON loaded into memory at startup </a:t>
            </a:r>
          </a:p>
          <a:p>
            <a:pPr lvl="0"/>
            <a:endParaRPr lang="en-IN" sz="1180" dirty="0">
              <a:solidFill>
                <a:srgbClr val="F1F5F9"/>
              </a:solidFill>
              <a:latin typeface="Aptos"/>
            </a:endParaRPr>
          </a:p>
          <a:p>
            <a:pPr lvl="0"/>
            <a:r>
              <a:rPr lang="en-IN" sz="1180" dirty="0">
                <a:solidFill>
                  <a:srgbClr val="F1F5F9"/>
                </a:solidFill>
                <a:latin typeface="Aptos"/>
              </a:rPr>
              <a:t>Maintainable: new KPIs, aliases and dimensions can be added directly </a:t>
            </a:r>
          </a:p>
          <a:p>
            <a:pPr lvl="0"/>
            <a:r>
              <a:rPr lang="en-IN" sz="1180" dirty="0">
                <a:solidFill>
                  <a:srgbClr val="F1F5F9"/>
                </a:solidFill>
                <a:latin typeface="Aptos"/>
              </a:rPr>
              <a:t>Fast: no model inference during grounding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2700" b="1" dirty="0">
                <a:solidFill>
                  <a:srgbClr val="F1F5F9"/>
                </a:solidFill>
                <a:latin typeface="Aptos"/>
              </a:rPr>
              <a:t>Graph vs Embeddings</a:t>
            </a:r>
            <a:r>
              <a:rPr sz="2700" b="1" dirty="0">
                <a:solidFill>
                  <a:srgbClr val="F1F5F9"/>
                </a:solidFill>
                <a:latin typeface="Aptos"/>
              </a:rPr>
              <a:t>-grounding comparison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3749039" cy="53035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33832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1F5F9"/>
                </a:solidFill>
                <a:latin typeface="Aptos"/>
              </a:rPr>
              <a:t>Context grounding recall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1143000"/>
            <a:ext cx="2743200" cy="53035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09160" y="1280160"/>
            <a:ext cx="2377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10B981"/>
                </a:solidFill>
                <a:latin typeface="Aptos"/>
              </a:rPr>
              <a:t>Knowledge Graph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143000"/>
            <a:ext cx="2011680" cy="53035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35240" y="1280160"/>
            <a:ext cx="1645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10B981"/>
                </a:solidFill>
                <a:latin typeface="Aptos"/>
              </a:rPr>
              <a:t>0.91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10512"/>
            <a:ext cx="3749039" cy="53035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947672"/>
            <a:ext cx="33832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1F5F9"/>
                </a:solidFill>
                <a:latin typeface="Aptos"/>
              </a:rPr>
              <a:t>Context grounding recall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810512"/>
            <a:ext cx="2743200" cy="53035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09160" y="1947672"/>
            <a:ext cx="2377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38BDF8"/>
                </a:solidFill>
                <a:latin typeface="Aptos"/>
              </a:rPr>
              <a:t>Embeddings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1810512"/>
            <a:ext cx="2011680" cy="53035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35240" y="1947672"/>
            <a:ext cx="1645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38BDF8"/>
                </a:solidFill>
                <a:latin typeface="Aptos"/>
              </a:rPr>
              <a:t>0.87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478024"/>
            <a:ext cx="3749039" cy="53035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2615184"/>
            <a:ext cx="33832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1F5F9"/>
                </a:solidFill>
                <a:latin typeface="Aptos"/>
              </a:rPr>
              <a:t>Average latency / query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80" y="2478024"/>
            <a:ext cx="2743200" cy="53035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09160" y="2615184"/>
            <a:ext cx="2377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10B981"/>
                </a:solidFill>
                <a:latin typeface="Aptos"/>
              </a:rPr>
              <a:t>Knowledge Graph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60" y="2478024"/>
            <a:ext cx="2011680" cy="53035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35240" y="2615184"/>
            <a:ext cx="1645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10B981"/>
                </a:solidFill>
                <a:latin typeface="Aptos"/>
              </a:rPr>
              <a:t>0.8 ms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145536"/>
            <a:ext cx="3749039" cy="53035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3282696"/>
            <a:ext cx="33832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1F5F9"/>
                </a:solidFill>
                <a:latin typeface="Aptos"/>
              </a:rPr>
              <a:t>Average latency / query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26280" y="3145536"/>
            <a:ext cx="2743200" cy="53035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09160" y="3282696"/>
            <a:ext cx="2377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38BDF8"/>
                </a:solidFill>
                <a:latin typeface="Aptos"/>
              </a:rPr>
              <a:t>Embeddings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2360" y="3145536"/>
            <a:ext cx="2011680" cy="53035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35240" y="3282696"/>
            <a:ext cx="1645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38BDF8"/>
                </a:solidFill>
                <a:latin typeface="Aptos"/>
              </a:rPr>
              <a:t>98.2 ms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3813048"/>
            <a:ext cx="3749039" cy="53035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" y="3950208"/>
            <a:ext cx="33832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1F5F9"/>
                </a:solidFill>
                <a:latin typeface="Aptos"/>
              </a:rPr>
              <a:t>Structural precision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26280" y="3813048"/>
            <a:ext cx="2743200" cy="53035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09160" y="3950208"/>
            <a:ext cx="2377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10B981"/>
                </a:solidFill>
                <a:latin typeface="Aptos"/>
              </a:rPr>
              <a:t>Knowledge Graph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52360" y="3813048"/>
            <a:ext cx="2011680" cy="53035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635240" y="3950208"/>
            <a:ext cx="1645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10B981"/>
                </a:solidFill>
                <a:latin typeface="Aptos"/>
              </a:rPr>
              <a:t>0.98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4480560"/>
            <a:ext cx="3749039" cy="53035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77240" y="4617720"/>
            <a:ext cx="33832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1F5F9"/>
                </a:solidFill>
                <a:latin typeface="Aptos"/>
              </a:rPr>
              <a:t>Structural recall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26280" y="4480560"/>
            <a:ext cx="2743200" cy="53035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709160" y="4617720"/>
            <a:ext cx="2377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10B981"/>
                </a:solidFill>
                <a:latin typeface="Aptos"/>
              </a:rPr>
              <a:t>Knowledge Graph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52360" y="4480560"/>
            <a:ext cx="2011680" cy="53035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635240" y="4617720"/>
            <a:ext cx="1645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10B981"/>
                </a:solidFill>
                <a:latin typeface="Aptos"/>
              </a:rPr>
              <a:t>0.91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5660136"/>
            <a:ext cx="10195560" cy="65836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77240" y="5669280"/>
            <a:ext cx="9829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10B981"/>
                </a:solidFill>
                <a:latin typeface="Aptos"/>
              </a:rPr>
              <a:t>Interpretation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5971032"/>
            <a:ext cx="9829800" cy="18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 dirty="0">
                <a:solidFill>
                  <a:srgbClr val="F1F5F9"/>
                </a:solidFill>
                <a:latin typeface="Aptos"/>
              </a:rPr>
              <a:t>For the current small, controlled ESG schema, explicit JSON grounding is slightly more accurate in this benchmark and dramatically faster; embeddings remain useful for broader / less controlled language.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2025997"/>
            <a:ext cx="11601450" cy="1038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750" b="1" i="0" u="none">
                <a:solidFill>
                  <a:srgbClr val="F8FAFC"/>
                </a:solidFill>
                <a:latin typeface="Urbanist"/>
              </a:rPr>
              <a:t>Live </a:t>
            </a:r>
            <a:r>
              <a:rPr sz="6750" b="1" i="0" u="none">
                <a:solidFill>
                  <a:srgbClr val="10B981"/>
                </a:solidFill>
                <a:latin typeface="Urbanist"/>
              </a:rPr>
              <a:t>Demo</a:t>
            </a:r>
            <a:r>
              <a:rPr sz="6750" b="1" i="0" u="none">
                <a:solidFill>
                  <a:srgbClr val="F8FAFC"/>
                </a:solidFill>
                <a:latin typeface="Urbanist"/>
              </a:rPr>
              <a:t>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254722"/>
            <a:ext cx="11049000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sz="1950" b="0" i="0" u="none">
                <a:solidFill>
                  <a:srgbClr val="CBD5E1"/>
                </a:solidFill>
                <a:latin typeface="Urbanist"/>
              </a:rPr>
              <a:t>Ready to see the Text-to-SQL Assistant in action?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186</TotalTime>
  <Words>1249</Words>
  <Application>Microsoft Office PowerPoint</Application>
  <PresentationFormat>Widescreen</PresentationFormat>
  <Paragraphs>188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Calibri</vt:lpstr>
      <vt:lpstr>Urbanist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Sooraj P</cp:lastModifiedBy>
  <cp:revision>18</cp:revision>
  <dcterms:created xsi:type="dcterms:W3CDTF">2013-01-27T09:14:16Z</dcterms:created>
  <dcterms:modified xsi:type="dcterms:W3CDTF">2026-08-26T09:02:20Z</dcterms:modified>
  <cp:category/>
</cp:coreProperties>
</file>